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PC Build Store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834640"/>
            <a:ext cx="3931920" cy="3810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C91A0"/>
                </a:solidFill>
                <a:latin typeface="Calibri"/>
              </a:defRPr>
            </a:pPr>
            <a:r>
              <a:t>Object Oriented Programming -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FAA"/>
                </a:solidFill>
                <a:latin typeface="Calibri"/>
              </a:defRPr>
            </a:pPr>
            <a:r>
              <a:t>Team 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6EBF5"/>
                </a:solidFill>
                <a:latin typeface="Calibri"/>
              </a:defRPr>
            </a:pPr>
            <a:r>
              <a:t>Abdulhanan  |  Ahmad Mushtaq  |  Aitzaz  |  Haroon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Team Members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560320" cy="320040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560320" cy="63500"/>
          </a:xfrm>
          <a:prstGeom prst="rect">
            <a:avLst/>
          </a:prstGeom>
          <a:solidFill>
            <a:srgbClr val="00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Abdulhanan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51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CAA"/>
                </a:solidFill>
                <a:latin typeface="Calibri"/>
              </a:defRPr>
            </a:pPr>
            <a:r>
              <a:t>Dashboard, Reports, AI 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C91A0"/>
                </a:solidFill>
                <a:latin typeface="Calibri"/>
              </a:defRPr>
            </a:pPr>
            <a:r>
              <a:t>rehanazizabdulhanan@gmail.com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828800"/>
            <a:ext cx="2560320" cy="320040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828800"/>
            <a:ext cx="2560320" cy="63500"/>
          </a:xfrm>
          <a:prstGeom prst="rect">
            <a:avLst/>
          </a:prstGeom>
          <a:solidFill>
            <a:srgbClr val="32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Ahmad Mushtaq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651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282FF"/>
                </a:solidFill>
                <a:latin typeface="Calibri"/>
              </a:defRPr>
            </a:pPr>
            <a:r>
              <a:t>Billing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C91A0"/>
                </a:solidFill>
                <a:latin typeface="Calibri"/>
              </a:defRPr>
            </a:pPr>
            <a:r>
              <a:t>2501803@students.au.edu.pk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828800"/>
            <a:ext cx="2560320" cy="320040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828800"/>
            <a:ext cx="2560320" cy="63500"/>
          </a:xfrm>
          <a:prstGeom prst="rect">
            <a:avLst/>
          </a:prstGeom>
          <a:solidFill>
            <a:srgbClr val="8C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Aitzaz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651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3CFF"/>
                </a:solidFill>
                <a:latin typeface="Calibri"/>
              </a:defRPr>
            </a:pPr>
            <a:r>
              <a:t>Build Upgrades Module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C91A0"/>
                </a:solidFill>
                <a:latin typeface="Calibri"/>
              </a:defRPr>
            </a:pPr>
            <a:r>
              <a:t>2501805@students.au.edu.pk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828800"/>
            <a:ext cx="2560320" cy="320040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828800"/>
            <a:ext cx="2560320" cy="63500"/>
          </a:xfrm>
          <a:prstGeom prst="rect">
            <a:avLst/>
          </a:prstGeom>
          <a:solidFill>
            <a:srgbClr val="FF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Haroon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651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B400"/>
                </a:solidFill>
                <a:latin typeface="Calibri"/>
              </a:defRPr>
            </a:pPr>
            <a:r>
              <a:t>Build Configurator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C91A0"/>
                </a:solidFill>
                <a:latin typeface="Calibri"/>
              </a:defRPr>
            </a:pPr>
            <a:r>
              <a:t>haroonikram2512@gmail.com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A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7335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BF5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59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A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199" y="167335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BF5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A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167335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BF5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AA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4505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BF5"/>
                </a:solidFill>
                <a:latin typeface="Calibri"/>
              </a:defRPr>
            </a:pPr>
            <a:r>
              <a:t>Module 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423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AA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199" y="24505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BF5"/>
                </a:solidFill>
                <a:latin typeface="Calibri"/>
              </a:defRPr>
            </a:pPr>
            <a:r>
              <a:t>Dashboard 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423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AA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4505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BF5"/>
                </a:solidFill>
                <a:latin typeface="Calibri"/>
              </a:defRPr>
            </a:pPr>
            <a:r>
              <a:t>Build Configurator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AA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22783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BF5"/>
                </a:solidFill>
                <a:latin typeface="Calibri"/>
              </a:defRPr>
            </a:pPr>
            <a:r>
              <a:t>Build Upgrades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AA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199" y="322783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BF5"/>
                </a:solidFill>
                <a:latin typeface="Calibri"/>
              </a:defRPr>
            </a:pPr>
            <a:r>
              <a:t>Billing Module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AA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322783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BF5"/>
                </a:solidFill>
                <a:latin typeface="Calibri"/>
              </a:defRPr>
            </a:pPr>
            <a:r>
              <a:t>AI Chat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9776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AA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005071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BF5"/>
                </a:solidFill>
                <a:latin typeface="Calibri"/>
              </a:defRPr>
            </a:pPr>
            <a:r>
              <a:t>Reports &amp;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39776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AA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199" y="4005071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BF5"/>
                </a:solidFill>
                <a:latin typeface="Calibri"/>
              </a:defRPr>
            </a:pPr>
            <a:r>
              <a:t>Database 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9776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AA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4005071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BF5"/>
                </a:solidFill>
                <a:latin typeface="Calibri"/>
              </a:defRPr>
            </a:pPr>
            <a:r>
              <a:t>Testing &amp; 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754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AA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78231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BF5"/>
                </a:solidFill>
                <a:latin typeface="Calibri"/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C91A0"/>
                </a:solidFill>
                <a:latin typeface="Calibri"/>
              </a:defRPr>
            </a:pPr>
            <a:r>
              <a:t>Why this project exists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303520" cy="182880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303520" cy="50800"/>
          </a:xfrm>
          <a:prstGeom prst="rect">
            <a:avLst/>
          </a:prstGeom>
          <a:solidFill>
            <a:srgbClr val="FF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028"/>
                </a:solidFill>
                <a:latin typeface="Calibri"/>
              </a:defRPr>
            </a:pPr>
            <a:r>
              <a:t>Compatibility Chaos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BF5"/>
                </a:solidFill>
                <a:latin typeface="Calibri"/>
              </a:defRPr>
            </a:pPr>
            <a:r>
              <a:t>Matching CPU sockets, DDR generations, and PSU wattage across dozens of components is overwhelming for most users.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5303520" cy="182880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5303520" cy="50800"/>
          </a:xfrm>
          <a:prstGeom prst="rect">
            <a:avLst/>
          </a:prstGeom>
          <a:solidFill>
            <a:srgbClr val="FF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65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028"/>
                </a:solidFill>
                <a:latin typeface="Calibri"/>
              </a:defRPr>
            </a:pPr>
            <a:r>
              <a:t>Price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3317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BF5"/>
                </a:solidFill>
                <a:latin typeface="Calibri"/>
              </a:defRPr>
            </a:pPr>
            <a:r>
              <a:t>Finding the best prices across multiple Pakistani vendors (zahcomputers.pk, galaxy.pk) requires hours of manual research.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023360"/>
            <a:ext cx="5303520" cy="182880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023360"/>
            <a:ext cx="5303520" cy="50800"/>
          </a:xfrm>
          <a:prstGeom prst="rect">
            <a:avLst/>
          </a:prstGeom>
          <a:solidFill>
            <a:srgbClr val="FF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028"/>
                </a:solidFill>
                <a:latin typeface="Calibri"/>
              </a:defRPr>
            </a:pPr>
            <a:r>
              <a:t>No Unified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BF5"/>
                </a:solidFill>
                <a:latin typeface="Calibri"/>
              </a:defRPr>
            </a:pPr>
            <a:r>
              <a:t>Existing PC builders lack real-time compatibility checking, AI assistance, and local market pricing.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023360"/>
            <a:ext cx="5303520" cy="182880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4023360"/>
            <a:ext cx="5303520" cy="50800"/>
          </a:xfrm>
          <a:prstGeom prst="rect">
            <a:avLst/>
          </a:prstGeom>
          <a:solidFill>
            <a:srgbClr val="FF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160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028"/>
                </a:solidFill>
                <a:latin typeface="Calibri"/>
              </a:defRPr>
            </a:pPr>
            <a:r>
              <a:t>Expert Knowledge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5262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BF5"/>
                </a:solidFill>
                <a:latin typeface="Calibri"/>
              </a:defRPr>
            </a:pPr>
            <a:r>
              <a:t>Most users dont know which components work together or how to optimize their budget.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474720" cy="192024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474720" cy="50800"/>
          </a:xfrm>
          <a:prstGeom prst="rect">
            <a:avLst/>
          </a:prstGeom>
          <a:solidFill>
            <a:srgbClr val="00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CAA"/>
                </a:solidFill>
                <a:latin typeface="Calibri"/>
              </a:defRPr>
            </a:pPr>
            <a:r>
              <a:t>Build Custom PCs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BF5"/>
                </a:solidFill>
                <a:latin typeface="Calibri"/>
              </a:defRPr>
            </a:pPr>
            <a:r>
              <a:t>Intuitive 6-slot configurator with drag-and-drop simplicity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828800"/>
            <a:ext cx="3474720" cy="192024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1828800"/>
            <a:ext cx="3474720" cy="50800"/>
          </a:xfrm>
          <a:prstGeom prst="rect">
            <a:avLst/>
          </a:prstGeom>
          <a:solidFill>
            <a:srgbClr val="00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19" y="1965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CAA"/>
                </a:solidFill>
                <a:latin typeface="Calibri"/>
              </a:defRPr>
            </a:pPr>
            <a:r>
              <a:t>Auto Compatibility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19" y="23317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BF5"/>
                </a:solidFill>
                <a:latin typeface="Calibri"/>
              </a:defRPr>
            </a:pPr>
            <a:r>
              <a:t>Real-time checks for socket, DDR, and wattage compatibility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828800"/>
            <a:ext cx="3474720" cy="192024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828800"/>
            <a:ext cx="3474720" cy="50800"/>
          </a:xfrm>
          <a:prstGeom prst="rect">
            <a:avLst/>
          </a:prstGeom>
          <a:solidFill>
            <a:srgbClr val="00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965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CAA"/>
                </a:solidFill>
                <a:latin typeface="Calibri"/>
              </a:defRPr>
            </a:pPr>
            <a:r>
              <a:t>Live Pricing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3317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BF5"/>
                </a:solidFill>
                <a:latin typeface="Calibri"/>
              </a:defRPr>
            </a:pPr>
            <a:r>
              <a:t>78+ components with real Pakistani market prices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114800"/>
            <a:ext cx="3474720" cy="192024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3474720" cy="50800"/>
          </a:xfrm>
          <a:prstGeom prst="rect">
            <a:avLst/>
          </a:prstGeom>
          <a:solidFill>
            <a:srgbClr val="00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CAA"/>
                </a:solidFill>
                <a:latin typeface="Calibri"/>
              </a:defRPr>
            </a:pPr>
            <a:r>
              <a:t>AI Assistance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177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BF5"/>
                </a:solidFill>
                <a:latin typeface="Calibri"/>
              </a:defRPr>
            </a:pPr>
            <a:r>
              <a:t>Streaming chat bot powered by KoboldCPP for build suggestions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59" y="4114800"/>
            <a:ext cx="3474720" cy="192024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59" y="4114800"/>
            <a:ext cx="3474720" cy="50800"/>
          </a:xfrm>
          <a:prstGeom prst="rect">
            <a:avLst/>
          </a:prstGeom>
          <a:solidFill>
            <a:srgbClr val="00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19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CAA"/>
                </a:solidFill>
                <a:latin typeface="Calibri"/>
              </a:defRPr>
            </a:pPr>
            <a:r>
              <a:t>Professional Receipts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19" y="46177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BF5"/>
                </a:solidFill>
                <a:latin typeface="Calibri"/>
              </a:defRPr>
            </a:pPr>
            <a:r>
              <a:t>Print and save purchase receipts as HTML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4114800"/>
            <a:ext cx="3474720" cy="192024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4114800"/>
            <a:ext cx="3474720" cy="50800"/>
          </a:xfrm>
          <a:prstGeom prst="rect">
            <a:avLst/>
          </a:prstGeom>
          <a:solidFill>
            <a:srgbClr val="00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CAA"/>
                </a:solidFill>
                <a:latin typeface="Calibri"/>
              </a:defRPr>
            </a:pPr>
            <a:r>
              <a:t>Analytics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6177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BF5"/>
                </a:solidFill>
                <a:latin typeface="Calibri"/>
              </a:defRPr>
            </a:pPr>
            <a:r>
              <a:t>Revenue charts, parts distribution, performance metrics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C91A0"/>
                </a:solidFill>
                <a:latin typeface="Calibri"/>
              </a:defRPr>
            </a:pPr>
            <a:r>
              <a:t>Layered MVC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645920"/>
            <a:ext cx="8503920" cy="100584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1645920"/>
            <a:ext cx="76200" cy="1005840"/>
          </a:xfrm>
          <a:prstGeom prst="rect">
            <a:avLst/>
          </a:prstGeom>
          <a:solidFill>
            <a:srgbClr val="00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17373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CAA"/>
                </a:solidFill>
                <a:latin typeface="Calibri"/>
              </a:defRPr>
            </a:pPr>
            <a:r>
              <a:t>PRESENTATION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1488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91A0"/>
                </a:solidFill>
                <a:latin typeface="Calibri"/>
              </a:defRPr>
            </a:pPr>
            <a:r>
              <a:t>DashboardGUI | BuildCatalogGUI | BuildUpgradesGUI | BillingGUI | ReportGUI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6060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AA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2880360"/>
            <a:ext cx="8503920" cy="100584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0" y="2880360"/>
            <a:ext cx="76200" cy="1005840"/>
          </a:xfrm>
          <a:prstGeom prst="rect">
            <a:avLst/>
          </a:prstGeom>
          <a:solidFill>
            <a:srgbClr val="32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971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282FF"/>
                </a:solidFill>
                <a:latin typeface="Calibri"/>
              </a:defRPr>
            </a:pPr>
            <a:r>
              <a:t>BUSINESS LOGIC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38328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91A0"/>
                </a:solidFill>
                <a:latin typeface="Calibri"/>
              </a:defRPr>
            </a:pPr>
            <a:r>
              <a:t>BillDAO | BuildDAO | PartDAO | CategoryDAO | GPUOptionDAO | ReportDAO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8404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AA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4114800"/>
            <a:ext cx="8503920" cy="100584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0" y="4114800"/>
            <a:ext cx="76200" cy="1005840"/>
          </a:xfrm>
          <a:prstGeom prst="rect">
            <a:avLst/>
          </a:prstGeom>
          <a:solidFill>
            <a:srgbClr val="8C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0" y="42062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3CFF"/>
                </a:solidFill>
                <a:latin typeface="Calibri"/>
              </a:defRPr>
            </a:pPr>
            <a:r>
              <a:t>DATA ACCESS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6177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91A0"/>
                </a:solidFill>
                <a:latin typeface="Calibri"/>
              </a:defRPr>
            </a:pPr>
            <a:r>
              <a:t>DBConnection | JDBC (mysql-connector-j-9.7.0)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50749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AA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5349240"/>
            <a:ext cx="8503920" cy="100584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28800" y="5349240"/>
            <a:ext cx="76200" cy="1005840"/>
          </a:xfrm>
          <a:prstGeom prst="rect">
            <a:avLst/>
          </a:prstGeom>
          <a:solidFill>
            <a:srgbClr val="FF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544068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028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8521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91A0"/>
                </a:solidFill>
                <a:latin typeface="Calibri"/>
              </a:defRPr>
            </a:pPr>
            <a:r>
              <a:t>MariaDB 10.4  |  categories | parts | builds | build_parts | bills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AA"/>
                </a:solidFill>
                <a:latin typeface="Calibri"/>
              </a:defRPr>
            </a:pPr>
            <a:r>
              <a:t>Utilities: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6517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1A0"/>
                </a:solidFill>
                <a:latin typeface="Calibri"/>
              </a:defRPr>
            </a:pPr>
            <a:r>
              <a:t>ImageCache</a:t>
            </a:r>
            <a:br/>
            <a:r>
              <a:t>ChatService</a:t>
            </a:r>
            <a:br/>
            <a:r>
              <a:t>ChatConfig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AA"/>
                </a:solidFill>
                <a:latin typeface="Calibri"/>
              </a:defRPr>
            </a:pPr>
            <a:r>
              <a:t>Models: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26517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1A0"/>
                </a:solidFill>
                <a:latin typeface="Calibri"/>
              </a:defRPr>
            </a:pPr>
            <a:r>
              <a:t>Bill, Build</a:t>
            </a:r>
            <a:br/>
            <a:r>
              <a:t>Part, Category</a:t>
            </a:r>
            <a:br/>
            <a:r>
              <a:t>GPUOption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Module Distribution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2161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926080"/>
                <a:gridCol w="292608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00A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Lead</a:t>
                      </a:r>
                    </a:p>
                  </a:txBody>
                  <a:tcPr>
                    <a:solidFill>
                      <a:srgbClr val="00A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GUI Work</a:t>
                      </a:r>
                    </a:p>
                  </a:txBody>
                  <a:tcPr>
                    <a:solidFill>
                      <a:srgbClr val="00A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Backend Work</a:t>
                      </a:r>
                    </a:p>
                  </a:txBody>
                  <a:tcPr>
                    <a:solidFill>
                      <a:srgbClr val="00A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Database Work</a:t>
                      </a:r>
                    </a:p>
                  </a:txBody>
                  <a:tcPr>
                    <a:solidFill>
                      <a:srgbClr val="00A0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Dashboard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Abdulhanan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Hero, Stats, Navigation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Chat Streaming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Stats Queries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Build Config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Haroon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Cart, Grid, Category Tabs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Part Filtering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Part Queries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Build Upgrades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Aitzaz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6-Slot Upgrade UI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Compatibility Checks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Build Updates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Ahmad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Receipt View, 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Save as 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Bill Inserts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Reports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Abdulhanan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Charts (Line, Pie, Bar)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Aggregation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Report Queries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AI Chat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Abdulhanan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Settings Dialog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SSE Streaming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Dashboard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C91A0"/>
                </a:solidFill>
                <a:latin typeface="Calibri"/>
              </a:defRPr>
            </a:pPr>
            <a:r>
              <a:t>Led by Abdulhanan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Hero banner with gradient background and project tagline</a:t>
            </a:r>
          </a:p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Statistics cards: total builds, parts, revenue, purchases</a:t>
            </a:r>
          </a:p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Featured parts grid with lazy-loaded product images</a:t>
            </a:r>
          </a:p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AI chat panel with real-time streaming responses</a:t>
            </a:r>
          </a:p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Navigation buttons to all application modules</a:t>
            </a:r>
          </a:p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GridBagLayout for responsive, adaptive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828800"/>
            <a:ext cx="5029200" cy="182880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5029200" cy="50800"/>
          </a:xfrm>
          <a:prstGeom prst="rect">
            <a:avLst/>
          </a:prstGeom>
          <a:solidFill>
            <a:srgbClr val="00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965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CAA"/>
                </a:solidFill>
                <a:latin typeface="Calibri"/>
              </a:defRPr>
            </a:pPr>
            <a:r>
              <a:t>Tech 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3317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BF5"/>
                </a:solidFill>
                <a:latin typeface="Calibri"/>
              </a:defRPr>
            </a:pPr>
            <a:r>
              <a:t>FontMetrics-based chat bubble heights</a:t>
            </a:r>
            <a:br/>
            <a:r>
              <a:t>KoboldCPP integration via OpenAI API</a:t>
            </a:r>
            <a:br/>
            <a:r>
              <a:t>3-tier image caching (memory, disk, HTTP)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3931920"/>
            <a:ext cx="5029200" cy="164592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3931920"/>
            <a:ext cx="5029200" cy="50800"/>
          </a:xfrm>
          <a:prstGeom prst="rect">
            <a:avLst/>
          </a:prstGeom>
          <a:solidFill>
            <a:srgbClr val="32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4069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282FF"/>
                </a:solidFill>
                <a:latin typeface="Calibri"/>
              </a:defRPr>
            </a:pPr>
            <a:r>
              <a:t>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443484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BF5"/>
                </a:solidFill>
                <a:latin typeface="Calibri"/>
              </a:defRPr>
            </a:pPr>
            <a:r>
              <a:t>DashboardGUI.java (900+ lines)</a:t>
            </a:r>
            <a:br/>
            <a:r>
              <a:t>ChatService.java</a:t>
            </a:r>
            <a:br/>
            <a:r>
              <a:t>ChatConfig.java</a:t>
            </a:r>
            <a:br/>
            <a:r>
              <a:t>ImageCache.java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Build Configurator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C91A0"/>
                </a:solidFill>
                <a:latin typeface="Calibri"/>
              </a:defRPr>
            </a:pPr>
            <a:r>
              <a:t>Led by Haroon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6-slot PC builder: CPU, GPU, RAM, Storage, PSU, Motherboard</a:t>
            </a:r>
          </a:p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Category tabs for quick component filtering</a:t>
            </a:r>
          </a:p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Product grid with images, specs, and prices</a:t>
            </a:r>
          </a:p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Cart sidebar with running total and score</a:t>
            </a:r>
          </a:p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Real-time price and performance calculation</a:t>
            </a:r>
          </a:p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Motherboard socket compatibility filtering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828800"/>
            <a:ext cx="5029200" cy="182880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5029200" cy="50800"/>
          </a:xfrm>
          <a:prstGeom prst="rect">
            <a:avLst/>
          </a:prstGeom>
          <a:solidFill>
            <a:srgbClr val="8C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965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C3CFF"/>
                </a:solidFill>
                <a:latin typeface="Calibri"/>
              </a:defRPr>
            </a:pPr>
            <a:r>
              <a:t>Compatibility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3317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BF5"/>
                </a:solidFill>
                <a:latin typeface="Calibri"/>
              </a:defRPr>
            </a:pPr>
            <a:r>
              <a:t>Socket matching (AM4, AM5, LGA1700)</a:t>
            </a:r>
            <a:br/>
            <a:r>
              <a:t>DDR generation validation (DDR4, DDR5)</a:t>
            </a:r>
            <a:br/>
            <a:r>
              <a:t>PSU wattage headroom 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3931920"/>
            <a:ext cx="5029200" cy="164592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3931920"/>
            <a:ext cx="5029200" cy="50800"/>
          </a:xfrm>
          <a:prstGeom prst="rect">
            <a:avLst/>
          </a:prstGeom>
          <a:solidFill>
            <a:srgbClr val="FF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4069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400"/>
                </a:solidFill>
                <a:latin typeface="Calibri"/>
              </a:defRPr>
            </a:pPr>
            <a:r>
              <a:t>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443484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BF5"/>
                </a:solidFill>
                <a:latin typeface="Calibri"/>
              </a:defRPr>
            </a:pPr>
            <a:r>
              <a:t>BuildCatalogGUI.java (800+ lines)</a:t>
            </a:r>
            <a:br/>
            <a:r>
              <a:t>BuildDAO.java</a:t>
            </a:r>
            <a:br/>
            <a:r>
              <a:t>PartDAO.java</a:t>
            </a:r>
            <a:br/>
            <a:r>
              <a:t>CategoryDAO.java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Build Upgrades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C91A0"/>
                </a:solidFill>
                <a:latin typeface="Calibri"/>
              </a:defRPr>
            </a:pPr>
            <a:r>
              <a:t>Led by Aitzaz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Load existing builds from database for modification</a:t>
            </a:r>
          </a:p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6-slot upgrade interface showing current parts</a:t>
            </a:r>
          </a:p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Smart upgrade suggestions with compatibility checks</a:t>
            </a:r>
          </a:p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Socket compatibility matrix (Intel/AMD)</a:t>
            </a:r>
          </a:p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DDR generation validation between CPU and RAM</a:t>
            </a:r>
          </a:p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Wattage headroom calculation for PSU safety</a:t>
            </a:r>
          </a:p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Apply upgrades button saves changes to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828800"/>
            <a:ext cx="5029200" cy="228600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5029200" cy="50800"/>
          </a:xfrm>
          <a:prstGeom prst="rect">
            <a:avLst/>
          </a:prstGeom>
          <a:solidFill>
            <a:srgbClr val="8C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965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C3CFF"/>
                </a:solidFill>
                <a:latin typeface="Calibri"/>
              </a:defRPr>
            </a:pPr>
            <a:r>
              <a:t>Compatibility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3317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BF5"/>
                </a:solidFill>
                <a:latin typeface="Calibri"/>
              </a:defRPr>
            </a:pPr>
            <a:r>
              <a:t>CPU &lt;-&gt; Motherboard socket check</a:t>
            </a:r>
            <a:br/>
            <a:r>
              <a:t>CPU &lt;-&gt; RAM DDR generation check</a:t>
            </a:r>
            <a:br/>
            <a:r>
              <a:t>Total wattage vs PSU capacity check</a:t>
            </a:r>
            <a:br/>
            <a:r>
              <a:t>Performance score recalculation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4389120"/>
            <a:ext cx="5029200" cy="137160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4389120"/>
            <a:ext cx="5029200" cy="50800"/>
          </a:xfrm>
          <a:prstGeom prst="rect">
            <a:avLst/>
          </a:prstGeom>
          <a:solidFill>
            <a:srgbClr val="FF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4526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028"/>
                </a:solidFill>
                <a:latin typeface="Calibri"/>
              </a:defRPr>
            </a:pPr>
            <a:r>
              <a:t>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48920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BF5"/>
                </a:solidFill>
                <a:latin typeface="Calibri"/>
              </a:defRPr>
            </a:pPr>
            <a:r>
              <a:t>BuildUpgradesGUI.java (540+ lines)</a:t>
            </a:r>
            <a:br/>
            <a:r>
              <a:t>GPUOptionDAO.java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Billing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C91A0"/>
                </a:solidFill>
                <a:latin typeface="Calibri"/>
              </a:defRPr>
            </a:pPr>
            <a:r>
              <a:t>Led by Ahmad Mushtaq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Build summary display with all selected components</a:t>
            </a:r>
          </a:p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Purchase processing with database storage</a:t>
            </a:r>
          </a:p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Receipt view with formatted HTML output</a:t>
            </a:r>
          </a:p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Print receipt via java.awt.print.PrinterJob</a:t>
            </a:r>
          </a:p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Save receipt as HTML file via JFileChooser</a:t>
            </a:r>
          </a:p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Purchase date formatting and display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828800"/>
            <a:ext cx="5029200" cy="182880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5029200" cy="50800"/>
          </a:xfrm>
          <a:prstGeom prst="rect">
            <a:avLst/>
          </a:prstGeom>
          <a:solidFill>
            <a:srgbClr val="FF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965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400"/>
                </a:solidFill>
                <a:latin typeface="Calibri"/>
              </a:defRPr>
            </a:pPr>
            <a:r>
              <a:t>Receipt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3317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BF5"/>
                </a:solidFill>
                <a:latin typeface="Calibri"/>
              </a:defRPr>
            </a:pPr>
            <a:r>
              <a:t>HTML receipt with table layout</a:t>
            </a:r>
            <a:br/>
            <a:r>
              <a:t>Printable interface implementation</a:t>
            </a:r>
            <a:br/>
            <a:r>
              <a:t>JFileChooser with null parent (no modal block)</a:t>
            </a:r>
            <a:br/>
            <a:r>
              <a:t>Universal HTML format (open in any browser)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3931920"/>
            <a:ext cx="5029200" cy="164592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3931920"/>
            <a:ext cx="5029200" cy="50800"/>
          </a:xfrm>
          <a:prstGeom prst="rect">
            <a:avLst/>
          </a:prstGeom>
          <a:solidFill>
            <a:srgbClr val="32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4069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282FF"/>
                </a:solidFill>
                <a:latin typeface="Calibri"/>
              </a:defRPr>
            </a:pPr>
            <a:r>
              <a:t>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443484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BF5"/>
                </a:solidFill>
                <a:latin typeface="Calibri"/>
              </a:defRPr>
            </a:pPr>
            <a:r>
              <a:t>BillingGUI.java (500+ lines)</a:t>
            </a:r>
            <a:br/>
            <a:r>
              <a:t>BillDAO.java</a:t>
            </a:r>
            <a:br/>
            <a:r>
              <a:t>Bill.java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 Chat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C91A0"/>
                </a:solidFill>
                <a:latin typeface="Calibri"/>
              </a:defRPr>
            </a:pPr>
            <a:r>
              <a:t>Powered by KoboldCPP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OpenAI-compatible API integration</a:t>
            </a:r>
          </a:p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Streaming SSE (Server-Sent Events) responses</a:t>
            </a:r>
          </a:p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KoboldCPP backend with Qwen3 model</a:t>
            </a:r>
          </a:p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Dual-field JSON parsing (content + reasoning_content)</a:t>
            </a:r>
          </a:p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Configurable settings: base URL, API key, model, prompt</a:t>
            </a:r>
          </a:p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Persistent settings in ~/.pcbuildstore/config.json</a:t>
            </a:r>
          </a:p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Dark theme chat bubbles with FontMetrics sizing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828800"/>
            <a:ext cx="5029200" cy="228600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5029200" cy="50800"/>
          </a:xfrm>
          <a:prstGeom prst="rect">
            <a:avLst/>
          </a:prstGeom>
          <a:solidFill>
            <a:srgbClr val="00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965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CAA"/>
                </a:solidFill>
                <a:latin typeface="Calibri"/>
              </a:defRPr>
            </a:pPr>
            <a:r>
              <a:t>Streaming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3317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BF5"/>
                </a:solidFill>
                <a:latin typeface="Calibri"/>
              </a:defRPr>
            </a:pPr>
            <a:r>
              <a:t>User types message</a:t>
            </a:r>
            <a:br/>
            <a:r>
              <a:t> -&gt; ChatService POST to /v1/chat/completions</a:t>
            </a:r>
            <a:br/>
            <a:r>
              <a:t> -&gt; SSE chunked response parsed</a:t>
            </a:r>
            <a:br/>
            <a:r>
              <a:t> -&gt; reasoning_content field extracted</a:t>
            </a:r>
            <a:br/>
            <a:r>
              <a:t> -&gt; UI updated in real-time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4389120"/>
            <a:ext cx="5029200" cy="137160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4389120"/>
            <a:ext cx="5029200" cy="50800"/>
          </a:xfrm>
          <a:prstGeom prst="rect">
            <a:avLst/>
          </a:prstGeom>
          <a:solidFill>
            <a:srgbClr val="32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4526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282FF"/>
                </a:solidFill>
                <a:latin typeface="Calibri"/>
              </a:defRPr>
            </a:pPr>
            <a:r>
              <a:t>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48920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BF5"/>
                </a:solidFill>
                <a:latin typeface="Calibri"/>
              </a:defRPr>
            </a:pPr>
            <a:r>
              <a:t>ChatService.java</a:t>
            </a:r>
            <a:br/>
            <a:r>
              <a:t>ChatConfig.java</a:t>
            </a:r>
            <a:br/>
            <a:r>
              <a:t>ChatSettingsDialog.java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Reports &amp;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C91A0"/>
                </a:solidFill>
                <a:latin typeface="Calibri"/>
              </a:defRPr>
            </a:pPr>
            <a:r>
              <a:t>Led by Abdulhanan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Revenue over time chart (line chart)</a:t>
            </a:r>
          </a:p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Parts distribution by category (pie chart)</a:t>
            </a:r>
          </a:p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Performance metrics comparison (bar chart)</a:t>
            </a:r>
          </a:p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Summary statistics cards</a:t>
            </a:r>
          </a:p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All charts custom-painted with Java2D</a:t>
            </a:r>
          </a:p>
          <a:p>
            <a:pPr>
              <a:spcAft>
                <a:spcPts val="600"/>
              </a:spcAft>
              <a:defRPr sz="1500">
                <a:solidFill>
                  <a:srgbClr val="E6EBF5"/>
                </a:solidFill>
                <a:latin typeface="Calibri"/>
              </a:defRPr>
            </a:pPr>
            <a:r>
              <a:t>Real-time data from database aggregation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828800"/>
            <a:ext cx="5029200" cy="182880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5029200" cy="50800"/>
          </a:xfrm>
          <a:prstGeom prst="rect">
            <a:avLst/>
          </a:prstGeom>
          <a:solidFill>
            <a:srgbClr val="8C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965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C3CFF"/>
                </a:solidFill>
                <a:latin typeface="Calibri"/>
              </a:defRPr>
            </a:pPr>
            <a:r>
              <a:t>Chart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3317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BF5"/>
                </a:solidFill>
                <a:latin typeface="Calibri"/>
              </a:defRPr>
            </a:pPr>
            <a:r>
              <a:t>Line Chart: Revenue trends over purchase dates</a:t>
            </a:r>
            <a:br/>
            <a:r>
              <a:t>Pie Chart: Part count per category</a:t>
            </a:r>
            <a:br/>
            <a:r>
              <a:t>Bar Chart: Average performance per category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3931920"/>
            <a:ext cx="5029200" cy="164592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3931920"/>
            <a:ext cx="5029200" cy="50800"/>
          </a:xfrm>
          <a:prstGeom prst="rect">
            <a:avLst/>
          </a:prstGeom>
          <a:solidFill>
            <a:srgbClr val="FF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4069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028"/>
                </a:solidFill>
                <a:latin typeface="Calibri"/>
              </a:defRPr>
            </a:pPr>
            <a:r>
              <a:t>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443484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BF5"/>
                </a:solidFill>
                <a:latin typeface="Calibri"/>
              </a:defRPr>
            </a:pPr>
            <a:r>
              <a:t>ReportGUI.java (600+ lines)</a:t>
            </a:r>
            <a:br/>
            <a:r>
              <a:t>ReportDAO.java</a:t>
            </a:r>
            <a:br/>
            <a:r>
              <a:t>Custom JPanel painting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Database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C91A0"/>
                </a:solidFill>
                <a:latin typeface="Calibri"/>
              </a:defRPr>
            </a:pPr>
            <a:r>
              <a:t>MariaDB 10.4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20700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029200"/>
                <a:gridCol w="5029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00A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Columns</a:t>
                      </a:r>
                    </a:p>
                  </a:txBody>
                  <a:tcPr>
                    <a:solidFill>
                      <a:srgbClr val="00A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A0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categories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category_id, name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6 categories: CPU, GPU, RAM, Storage, PSU, Motherboard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parts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part_id, category_id, brand, name, price, ... (17 cols)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78+ components with full specs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builds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build_id, name, total_price, total_score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Custom PC configurations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build_parts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build_id, category_id, part_id, price_at_add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Junction: parts in each build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bills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bill_id, build_id, final_price, final_score, purchase_date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Purchase records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1A0"/>
                </a:solidFill>
                <a:latin typeface="Calibri"/>
              </a:defRPr>
            </a:pPr>
            <a:r>
              <a:t>78+ components seeded with real Pakistani market pricing from zahcomputers.pk and galaxy.pk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Testing &amp;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6858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00A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Scenarios</a:t>
                      </a:r>
                    </a:p>
                  </a:txBody>
                  <a:tcPr>
                    <a:solidFill>
                      <a:srgbClr val="00A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A0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Dashboard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Stats cards, navigation, chat streaming, image loading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Build Config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Category tabs, 6-slot selection, price/score calc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Build Upgrades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Compatibility checks, part replacement, score update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Purchase flow, receipt print/save, DB insertion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Reports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Chart rendering, data aggregation, date filtering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AI Chat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Streaming parse, KoboldCPP connect, settings persist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37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OOP Concepts Applied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474720" cy="192024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474720" cy="50800"/>
          </a:xfrm>
          <a:prstGeom prst="rect">
            <a:avLst/>
          </a:prstGeom>
          <a:solidFill>
            <a:srgbClr val="00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CAA"/>
                </a:solidFill>
                <a:latin typeface="Calibri"/>
              </a:defRPr>
            </a:pPr>
            <a:r>
              <a:t>Encapsulation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BF5"/>
                </a:solidFill>
                <a:latin typeface="Calibri"/>
              </a:defRPr>
            </a:pPr>
            <a:r>
              <a:t>Model classes with private fields and public getters (Bill, Build, Part, Category)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828800"/>
            <a:ext cx="3474720" cy="192024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1828800"/>
            <a:ext cx="3474720" cy="50800"/>
          </a:xfrm>
          <a:prstGeom prst="rect">
            <a:avLst/>
          </a:prstGeom>
          <a:solidFill>
            <a:srgbClr val="32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19" y="1965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282FF"/>
                </a:solidFill>
                <a:latin typeface="Calibri"/>
              </a:defRPr>
            </a:pPr>
            <a:r>
              <a:t>Inheritance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19" y="23317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BF5"/>
                </a:solidFill>
                <a:latin typeface="Calibri"/>
              </a:defRPr>
            </a:pPr>
            <a:r>
              <a:t>JPanel anonymous inner classes extend base components for custom painting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828800"/>
            <a:ext cx="3474720" cy="192024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828800"/>
            <a:ext cx="3474720" cy="50800"/>
          </a:xfrm>
          <a:prstGeom prst="rect">
            <a:avLst/>
          </a:prstGeom>
          <a:solidFill>
            <a:srgbClr val="8C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965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C3CFF"/>
                </a:solidFill>
                <a:latin typeface="Calibri"/>
              </a:defRPr>
            </a:pPr>
            <a:r>
              <a:t>Polymorphism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3317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BF5"/>
                </a:solidFill>
                <a:latin typeface="Calibri"/>
              </a:defRPr>
            </a:pPr>
            <a:r>
              <a:t>DAO pattern allows interchangeable data access; Printable interface for receipts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114800"/>
            <a:ext cx="3474720" cy="192024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3474720" cy="50800"/>
          </a:xfrm>
          <a:prstGeom prst="rect">
            <a:avLst/>
          </a:prstGeom>
          <a:solidFill>
            <a:srgbClr val="FF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028"/>
                </a:solidFill>
                <a:latin typeface="Calibri"/>
              </a:defRPr>
            </a:pPr>
            <a:r>
              <a:t>Abstraction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177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BF5"/>
                </a:solidFill>
                <a:latin typeface="Calibri"/>
              </a:defRPr>
            </a:pPr>
            <a:r>
              <a:t>Separation of concerns: GUI, DAO, Model, Utility layers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59" y="4114800"/>
            <a:ext cx="3474720" cy="192024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59" y="4114800"/>
            <a:ext cx="3474720" cy="50800"/>
          </a:xfrm>
          <a:prstGeom prst="rect">
            <a:avLst/>
          </a:prstGeom>
          <a:solidFill>
            <a:srgbClr val="FF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19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400"/>
                </a:solidFill>
                <a:latin typeface="Calibri"/>
              </a:defRPr>
            </a:pPr>
            <a:r>
              <a:t>Composition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19" y="46177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BF5"/>
                </a:solidFill>
                <a:latin typeface="Calibri"/>
              </a:defRPr>
            </a:pPr>
            <a:r>
              <a:t>GUI panels composed of specialized sub-components (buttons, tables, charts)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6EBF5"/>
                </a:solidFill>
                <a:latin typeface="Calibri"/>
              </a:defRPr>
            </a:pPr>
            <a:r>
              <a:t>Successfully built a full-featured PC configurator with 78+ real components</a:t>
            </a:r>
          </a:p>
          <a:p>
            <a:pPr>
              <a:spcAft>
                <a:spcPts val="600"/>
              </a:spcAft>
              <a:defRPr sz="1600">
                <a:solidFill>
                  <a:srgbClr val="E6EBF5"/>
                </a:solidFill>
                <a:latin typeface="Calibri"/>
              </a:defRPr>
            </a:pPr>
            <a:r>
              <a:t>Automated compatibility checking saves users hours of research</a:t>
            </a:r>
          </a:p>
          <a:p>
            <a:pPr>
              <a:spcAft>
                <a:spcPts val="600"/>
              </a:spcAft>
              <a:defRPr sz="1600">
                <a:solidFill>
                  <a:srgbClr val="E6EBF5"/>
                </a:solidFill>
                <a:latin typeface="Calibri"/>
              </a:defRPr>
            </a:pPr>
            <a:r>
              <a:t>AI chat integration provides intelligent build suggestions</a:t>
            </a:r>
          </a:p>
          <a:p>
            <a:pPr>
              <a:spcAft>
                <a:spcPts val="600"/>
              </a:spcAft>
              <a:defRPr sz="1600">
                <a:solidFill>
                  <a:srgbClr val="E6EBF5"/>
                </a:solidFill>
                <a:latin typeface="Calibri"/>
              </a:defRPr>
            </a:pPr>
            <a:r>
              <a:t>Modular architecture enabled parallel development by 4 team members</a:t>
            </a:r>
          </a:p>
          <a:p>
            <a:pPr>
              <a:spcAft>
                <a:spcPts val="600"/>
              </a:spcAft>
              <a:defRPr sz="1600">
                <a:solidFill>
                  <a:srgbClr val="E6EBF5"/>
                </a:solidFill>
                <a:latin typeface="Calibri"/>
              </a:defRPr>
            </a:pPr>
            <a:r>
              <a:t>Professional receipt system with print and save capabilities</a:t>
            </a:r>
          </a:p>
          <a:p>
            <a:pPr>
              <a:spcAft>
                <a:spcPts val="600"/>
              </a:spcAft>
              <a:defRPr sz="1600">
                <a:solidFill>
                  <a:srgbClr val="E6EBF5"/>
                </a:solidFill>
                <a:latin typeface="Calibri"/>
              </a:defRPr>
            </a:pPr>
            <a:r>
              <a:t>Dark theme UI with modern aesthetics and responsive layout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1828800"/>
            <a:ext cx="3657600" cy="4114800"/>
          </a:xfrm>
          <a:prstGeom prst="rect">
            <a:avLst/>
          </a:prstGeom>
          <a:solidFill>
            <a:srgbClr val="1C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1828800"/>
            <a:ext cx="3657600" cy="50800"/>
          </a:xfrm>
          <a:prstGeom prst="rect">
            <a:avLst/>
          </a:prstGeom>
          <a:solidFill>
            <a:srgbClr val="00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1965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CAA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233172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BF5"/>
                </a:solidFill>
                <a:latin typeface="Calibri"/>
              </a:defRPr>
            </a:pPr>
            <a:r>
              <a:t>Java 17</a:t>
            </a:r>
            <a:br/>
            <a:r>
              <a:t>Swing GUI</a:t>
            </a:r>
            <a:br/>
            <a:r>
              <a:t>MariaDB 10.4</a:t>
            </a:r>
            <a:br/>
            <a:r>
              <a:t>JDBC</a:t>
            </a:r>
            <a:br/>
            <a:r>
              <a:t>NetBeans Ant</a:t>
            </a:r>
            <a:br/>
            <a:r>
              <a:t>KoboldCPP AI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3291840"/>
            <a:ext cx="3017520" cy="3810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C91A0"/>
                </a:solidFill>
                <a:latin typeface="Calibri"/>
              </a:defRPr>
            </a:pPr>
            <a:r>
              <a:t>PC Build Store - OOP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FFAA"/>
                </a:solidFill>
                <a:latin typeface="Calibri"/>
              </a:defRPr>
            </a:pPr>
            <a:r>
              <a:t>Abdulhanan | Ahmad Mushtaq | Aitzaz | Haroon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91A0"/>
                </a:solidFill>
                <a:latin typeface="Calibri"/>
              </a:defRPr>
            </a:pPr>
            <a:r>
              <a:t>github.com/Abdulhanan535/PCBuildStore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